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4663440"/>
            <a:ext cx="3108960" cy="3108960"/>
          </a:xfrm>
          <a:prstGeom prst="ellipse">
            <a:avLst/>
          </a:prstGeom>
          <a:solidFill>
            <a:srgbClr val="D3E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731520"/>
            <a:ext cx="2743200" cy="2743200"/>
          </a:xfrm>
          <a:prstGeom prst="ellipse">
            <a:avLst/>
          </a:prstGeom>
          <a:solidFill>
            <a:srgbClr val="DDE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8961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B5E20"/>
                </a:solidFill>
                <a:latin typeface="Microsoft YaHei"/>
              </a:defRPr>
            </a:pPr>
            <a:r>
              <a:t>Bi/Y 掺杂氯化物固态电解质</a:t>
            </a:r>
          </a:p>
          <a:p>
            <a:pPr>
              <a:defRPr b="1" sz="3800">
                <a:solidFill>
                  <a:srgbClr val="286E37"/>
                </a:solidFill>
                <a:latin typeface="Microsoft YaHei"/>
              </a:defRPr>
            </a:pPr>
            <a:r>
              <a:t>计算研究路线与发表图谱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86E5C"/>
                </a:solidFill>
                <a:latin typeface="Segoe UI"/>
              </a:defRPr>
            </a:pPr>
            <a:r>
              <a:t>Structure | Transport | Electrochemistry | Water Stability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886200"/>
            <a:ext cx="15087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B7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B5E20"/>
                </a:solidFill>
                <a:latin typeface="Microsoft YaHei"/>
              </a:defRPr>
            </a:pPr>
            <a:r>
              <a:t>结构稳定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32888" y="3886200"/>
            <a:ext cx="15087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B7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B5E20"/>
                </a:solidFill>
                <a:latin typeface="Microsoft YaHei"/>
              </a:defRPr>
            </a:pPr>
            <a:r>
              <a:t>电子结构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97096" y="3886200"/>
            <a:ext cx="15087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B7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B5E20"/>
                </a:solidFill>
                <a:latin typeface="Microsoft YaHei"/>
              </a:defRPr>
            </a:pPr>
            <a:r>
              <a:t>迁移动力学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61304" y="3886200"/>
            <a:ext cx="15087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B7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B5E20"/>
                </a:solidFill>
                <a:latin typeface="Microsoft YaHei"/>
              </a:defRPr>
            </a:pPr>
            <a:r>
              <a:t>电化学窗口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25512" y="3886200"/>
            <a:ext cx="15087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B7C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B5E20"/>
                </a:solidFill>
                <a:latin typeface="Microsoft YaHei"/>
              </a:defRPr>
            </a:pPr>
            <a:r>
              <a:t>水稳定性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62636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17864"/>
                </a:solidFill>
                <a:latin typeface="Segoe UI"/>
              </a:defRPr>
            </a:pPr>
            <a:r>
              <a:t>2026-04-21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研究计算路线总览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0116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6E9D7"/>
                </a:solidFill>
                <a:latin typeface="Microsoft YaHei"/>
              </a:defRPr>
            </a:pPr>
            <a: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17520"/>
            <a:ext cx="10515600" cy="73152"/>
          </a:xfrm>
          <a:prstGeom prst="rect">
            <a:avLst/>
          </a:prstGeom>
          <a:solidFill>
            <a:srgbClr val="ADCA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201168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EC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B5E20"/>
                </a:solidFill>
                <a:latin typeface="Microsoft YaHei"/>
              </a:defRPr>
            </a:pPr>
            <a:r>
              <a:t>结构稳定性评估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95728"/>
            <a:ext cx="173736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586E5C"/>
                </a:solidFill>
                <a:latin typeface="Microsoft YaHei"/>
              </a:defRPr>
            </a:pPr>
            <a:r>
              <a:t>形成能 + 相图 + AIMD</a:t>
            </a:r>
            <a:br/>
            <a:r>
              <a:t>判断掺杂后是否稳相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79" y="1920240"/>
            <a:ext cx="201168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EC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43199" y="1737360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39" y="201168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B5E20"/>
                </a:solidFill>
                <a:latin typeface="Microsoft YaHei"/>
              </a:defRPr>
            </a:pPr>
            <a:r>
              <a:t>电子结构性质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39" y="2395728"/>
            <a:ext cx="173736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586E5C"/>
                </a:solidFill>
                <a:latin typeface="Microsoft YaHei"/>
              </a:defRPr>
            </a:pPr>
            <a:r>
              <a:t>DOS 分析</a:t>
            </a:r>
            <a:br/>
            <a:r>
              <a:t>观察带边与局域态变化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920240"/>
            <a:ext cx="201168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EC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6320" y="1737360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01168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B5E20"/>
                </a:solidFill>
                <a:latin typeface="Microsoft YaHei"/>
              </a:defRPr>
            </a:pPr>
            <a:r>
              <a:t>迁移动力学验证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395728"/>
            <a:ext cx="173736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586E5C"/>
                </a:solidFill>
                <a:latin typeface="Microsoft YaHei"/>
              </a:defRPr>
            </a:pPr>
            <a:r>
              <a:t>电导率/活化能 + BVSE + NEB</a:t>
            </a:r>
            <a:br/>
            <a:r>
              <a:t>验证局域结构调控效应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1920240"/>
            <a:ext cx="201168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EC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49440" y="1737360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01168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B5E20"/>
                </a:solidFill>
                <a:latin typeface="Microsoft YaHei"/>
              </a:defRPr>
            </a:pPr>
            <a:r>
              <a:t>电化学窗口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395728"/>
            <a:ext cx="173736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586E5C"/>
                </a:solidFill>
                <a:latin typeface="Microsoft YaHei"/>
              </a:defRPr>
            </a:pPr>
            <a:r>
              <a:t>脱锂氧化电位</a:t>
            </a:r>
            <a:br/>
            <a:r>
              <a:t>巨势相图确定电压窗口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920240"/>
            <a:ext cx="201168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EC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52560" y="1737360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01168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B5E20"/>
                </a:solidFill>
                <a:latin typeface="Microsoft YaHei"/>
              </a:defRPr>
            </a:pPr>
            <a:r>
              <a:t>水稳定性评估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395728"/>
            <a:ext cx="173736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586E5C"/>
                </a:solidFill>
                <a:latin typeface="Microsoft YaHei"/>
              </a:defRPr>
            </a:pPr>
            <a:r>
              <a:t>反应相图 + 水合物 + AIMD</a:t>
            </a:r>
            <a:br/>
            <a:r>
              <a:t>评价 Bi 掺杂抗水能力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模块 1-2: 稳定性与电子结构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0116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6E9D7"/>
                </a:solidFill>
                <a:latin typeface="Microsoft YaHei"/>
              </a:defRPr>
            </a:pPr>
            <a:r>
              <a:t>Stability &amp; 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5394960" cy="4526280"/>
          </a:xfrm>
          <a:prstGeom prst="roundRect">
            <a:avLst/>
          </a:prstGeom>
          <a:solidFill>
            <a:srgbClr val="E8F1E6"/>
          </a:solidFill>
          <a:ln w="17780">
            <a:solidFill>
              <a:srgbClr val="C2D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289304"/>
            <a:ext cx="4937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B5E20"/>
                </a:solidFill>
                <a:latin typeface="Microsoft YaHei"/>
              </a:defRPr>
            </a:pPr>
            <a:r>
              <a:t>结构稳定性评估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55064"/>
            <a:ext cx="4937760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形成能: 判断掺杂构型的热力学可行性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相图: 确定稳定区间与竞争相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AIMD: 在有限温度下验证动力学稳定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输出图件: 形成能柱图 + 相图 + MSD/RDF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43000"/>
            <a:ext cx="5257800" cy="4526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2D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9304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B5E20"/>
                </a:solidFill>
                <a:latin typeface="Microsoft YaHei"/>
              </a:defRPr>
            </a:pPr>
            <a:r>
              <a:t>电子结构性质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55064"/>
            <a:ext cx="4800600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DOS: 比较 base 与 Bi/Y 掺杂体系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观察费米能级附近态密度与局域态变化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关联迁移势垒变化与电子结构响应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输出图件: Total/Partial DOS 对比图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DAE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B5E20"/>
                </a:solidFill>
                <a:latin typeface="Microsoft YaHei"/>
              </a:defRPr>
            </a:pPr>
            <a:r>
              <a:t>阶段结论: 稳相证据 + 电子结构解释，为后续迁移机制提供结构基础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模块 3: 迁移动力学与局域结构效应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0116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6E9D7"/>
                </a:solidFill>
                <a:latin typeface="Microsoft YaHei"/>
              </a:defRPr>
            </a:pPr>
            <a:r>
              <a:t>Transport Kinetics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611880" cy="4389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2D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0744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B5E20"/>
                </a:solidFill>
                <a:latin typeface="Microsoft YaHei"/>
              </a:defRPr>
            </a:pPr>
            <a:r>
              <a:t>电导率与活化能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315468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目标: 证明 Bi/Y 掺杂后电导率提高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指标: Arrhenius 斜率下降, Ea 降低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结果组织: 表格 + 拟合直线对比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234440"/>
            <a:ext cx="3611880" cy="4389120"/>
          </a:xfrm>
          <a:prstGeom prst="roundRect">
            <a:avLst/>
          </a:prstGeom>
          <a:solidFill>
            <a:srgbClr val="E8F1E6"/>
          </a:solidFill>
          <a:ln w="17780">
            <a:solidFill>
              <a:srgbClr val="C2D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380744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B5E20"/>
                </a:solidFill>
                <a:latin typeface="Microsoft YaHei"/>
              </a:defRPr>
            </a:pPr>
            <a:r>
              <a:t>BVSE 通道分析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746504"/>
            <a:ext cx="315468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目标: 给出通道拓宽与势垒降低证据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方法: 等势面/最小能量路径投影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结果组织: 通道截面 + 势垒色谱图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234440"/>
            <a:ext cx="3108960" cy="4389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2D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380744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B5E20"/>
                </a:solidFill>
                <a:latin typeface="Microsoft YaHei"/>
              </a:defRPr>
            </a:pPr>
            <a:r>
              <a:t>NEB 路径验证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746504"/>
            <a:ext cx="265176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步骤: 找空位 -&gt; 找 Li 位 -&gt; 找路径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方向: ab 平面, c 方向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路径: O-T-O 与 O-O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输出: 势垒曲线对比图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06240" y="3474720"/>
            <a:ext cx="320040" cy="0"/>
          </a:xfrm>
          <a:prstGeom prst="line">
            <a:avLst/>
          </a:prstGeom>
          <a:ln w="27940">
            <a:solidFill>
              <a:srgbClr val="7C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92440" y="3474720"/>
            <a:ext cx="274320" cy="0"/>
          </a:xfrm>
          <a:prstGeom prst="line">
            <a:avLst/>
          </a:prstGeom>
          <a:ln w="27940">
            <a:solidFill>
              <a:srgbClr val="7C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58064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2E7D32"/>
                </a:solidFill>
                <a:latin typeface="Microsoft YaHei"/>
              </a:defRPr>
            </a:pPr>
            <a:r>
              <a:t>逻辑链条: 宏观电导率提升  &lt;-  中观通道拓宽  &lt;-  微观迁移势垒降低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模块 4-5: 电化学窗口与水稳定性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0116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6E9D7"/>
                </a:solidFill>
                <a:latin typeface="Microsoft YaHei"/>
              </a:defRPr>
            </a:pPr>
            <a:r>
              <a:t>Electrochemistry &amp; Moisture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532120" cy="4526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2D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80744"/>
            <a:ext cx="5074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B5E20"/>
                </a:solidFill>
                <a:latin typeface="Microsoft YaHei"/>
              </a:defRPr>
            </a:pPr>
            <a:r>
              <a:t>电化学窗口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46504"/>
            <a:ext cx="5074920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氧化电位下限: 脱锂路径计算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巨势相图: 基于 MP 数据确定窗口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对比 base 与 Bi/Y 体系的电压变化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输出图件: 电压窗口条带图 + 相图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34440"/>
            <a:ext cx="5074920" cy="4526280"/>
          </a:xfrm>
          <a:prstGeom prst="roundRect">
            <a:avLst/>
          </a:prstGeom>
          <a:solidFill>
            <a:srgbClr val="E8F1E6"/>
          </a:solidFill>
          <a:ln w="17780">
            <a:solidFill>
              <a:srgbClr val="C2D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80744"/>
            <a:ext cx="4617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B5E20"/>
                </a:solidFill>
                <a:latin typeface="Microsoft YaHei"/>
              </a:defRPr>
            </a:pPr>
            <a:r>
              <a:t>水稳定性评估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46504"/>
            <a:ext cx="4617720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界面反应热力学: 是否与水分解反应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水合物计算: BiCl3 对水抵抗能力增强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表面反应动力学: base vs Bi, AIMD/LAMMPS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输出图件: 反应能图 + 动力学轨迹快照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D6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1B5E20"/>
                </a:solidFill>
                <a:latin typeface="Microsoft YaHei"/>
              </a:defRPr>
            </a:pPr>
            <a:r>
              <a:t>最终结论表达: 在保持稳定性前提下，Bi/Y 掺杂可同步优化离子输运性能与环境耐受性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可投稿小论文结构建议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201168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6E9D7"/>
                </a:solidFill>
                <a:latin typeface="Microsoft YaHei"/>
              </a:defRPr>
            </a:pPr>
            <a:r>
              <a:t>Manuscript-Ready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7635240" cy="5074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2D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80744"/>
            <a:ext cx="7178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B5E20"/>
                </a:solidFill>
                <a:latin typeface="Microsoft YaHei"/>
              </a:defRPr>
            </a:pPr>
            <a:r>
              <a:t>建议章节与图件映射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46504"/>
            <a:ext cx="7178040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1) 引言: 氯化物电解质痛点与掺杂策略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2) 方法: DFT + AIMD + BVSE + NEB + 相图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3) 结果 I: 稳定性与电子结构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4) 结果 II: 输运机制与势垒验证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5) 结果 III: 电化学窗口与水稳定性</a:t>
            </a:r>
          </a:p>
          <a:p>
            <a:pPr>
              <a:spcAft>
                <a:spcPts val="400"/>
              </a:spcAft>
              <a:defRPr sz="1400">
                <a:solidFill>
                  <a:srgbClr val="142218"/>
                </a:solidFill>
                <a:latin typeface="Microsoft YaHei"/>
              </a:defRPr>
            </a:pPr>
            <a:r>
              <a:t>✓  6) 结论: 机制闭环 + 设计原则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234440"/>
            <a:ext cx="2926080" cy="5074920"/>
          </a:xfrm>
          <a:prstGeom prst="roundRect">
            <a:avLst/>
          </a:prstGeom>
          <a:solidFill>
            <a:srgbClr val="E8F1E6"/>
          </a:solidFill>
          <a:ln>
            <a:solidFill>
              <a:srgbClr val="BED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>
                <a:solidFill>
                  <a:srgbClr val="142218"/>
                </a:solidFill>
                <a:latin typeface="Microsoft YaHei"/>
              </a:defRPr>
            </a:pPr>
            <a:r>
              <a:t>□  图 1: 研究路线图</a:t>
            </a:r>
          </a:p>
          <a:p>
            <a:pPr>
              <a:spcAft>
                <a:spcPts val="400"/>
              </a:spcAft>
              <a:defRPr sz="1300">
                <a:solidFill>
                  <a:srgbClr val="142218"/>
                </a:solidFill>
                <a:latin typeface="Microsoft YaHei"/>
              </a:defRPr>
            </a:pPr>
            <a:r>
              <a:t>□  图 2: 形成能与相图</a:t>
            </a:r>
          </a:p>
          <a:p>
            <a:pPr>
              <a:spcAft>
                <a:spcPts val="400"/>
              </a:spcAft>
              <a:defRPr sz="1300">
                <a:solidFill>
                  <a:srgbClr val="142218"/>
                </a:solidFill>
                <a:latin typeface="Microsoft YaHei"/>
              </a:defRPr>
            </a:pPr>
            <a:r>
              <a:t>□  图 3: DOS 对比</a:t>
            </a:r>
          </a:p>
          <a:p>
            <a:pPr>
              <a:spcAft>
                <a:spcPts val="400"/>
              </a:spcAft>
              <a:defRPr sz="1300">
                <a:solidFill>
                  <a:srgbClr val="142218"/>
                </a:solidFill>
                <a:latin typeface="Microsoft YaHei"/>
              </a:defRPr>
            </a:pPr>
            <a:r>
              <a:t>□  图 4: BVSE + NEB</a:t>
            </a:r>
          </a:p>
          <a:p>
            <a:pPr>
              <a:spcAft>
                <a:spcPts val="400"/>
              </a:spcAft>
              <a:defRPr sz="1300">
                <a:solidFill>
                  <a:srgbClr val="142218"/>
                </a:solidFill>
                <a:latin typeface="Microsoft YaHei"/>
              </a:defRPr>
            </a:pPr>
            <a:r>
              <a:t>□  图 5: 电压窗口</a:t>
            </a:r>
          </a:p>
          <a:p>
            <a:pPr>
              <a:spcAft>
                <a:spcPts val="400"/>
              </a:spcAft>
              <a:defRPr sz="1300">
                <a:solidFill>
                  <a:srgbClr val="142218"/>
                </a:solidFill>
                <a:latin typeface="Microsoft YaHei"/>
              </a:defRPr>
            </a:pPr>
            <a:r>
              <a:t>□  图 6: 水稳定性</a:t>
            </a:r>
          </a:p>
          <a:p>
            <a:pPr>
              <a:spcAft>
                <a:spcPts val="400"/>
              </a:spcAft>
              <a:defRPr sz="1300">
                <a:solidFill>
                  <a:srgbClr val="142218"/>
                </a:solidFill>
                <a:latin typeface="Microsoft YaHei"/>
              </a:defRPr>
            </a:pPr>
            <a:r>
              <a:t>□  表 1: 关键指标汇总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