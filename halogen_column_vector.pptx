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743200" cy="1133856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0" cy="2834640"/>
          </a:xfrm>
          <a:prstGeom prst="rect">
            <a:avLst/>
          </a:prstGeom>
          <a:solidFill>
            <a:srgbClr val="DB82E2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45720"/>
            <a:ext cx="13258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Calibri"/>
              </a:defRPr>
            </a:pPr>
            <a:r>
              <a:t>18.998403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39112" y="18288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0">
                <a:solidFill>
                  <a:srgbClr val="000000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283464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alibri"/>
              </a:defRPr>
            </a:pPr>
            <a:r>
              <a:t>1681.0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3312" y="283464"/>
            <a:ext cx="7132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000000"/>
                </a:solidFill>
                <a:latin typeface="Calibri"/>
              </a:defRPr>
            </a:pPr>
            <a:r>
              <a:t>3.98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67128" y="512064"/>
            <a:ext cx="438912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Calibri"/>
              </a:defRPr>
            </a:pPr>
            <a:r>
              <a:t>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" y="493776"/>
            <a:ext cx="1325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600" b="0">
                <a:solidFill>
                  <a:srgbClr val="000000"/>
                </a:solidFill>
                <a:latin typeface="Calibri"/>
              </a:defRPr>
            </a:pPr>
            <a:r>
              <a:t>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" y="1719072"/>
            <a:ext cx="1783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Calibri"/>
              </a:defRPr>
            </a:pPr>
            <a:r>
              <a:t>Fluorine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" y="1975104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000000"/>
                </a:solidFill>
                <a:latin typeface="Calibri"/>
              </a:defRPr>
            </a:pPr>
            <a:r>
              <a:t>[He] 2s2 2p5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2834640"/>
            <a:ext cx="2743200" cy="2834640"/>
          </a:xfrm>
          <a:prstGeom prst="rect">
            <a:avLst/>
          </a:prstGeom>
          <a:solidFill>
            <a:srgbClr val="DB82E2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" y="2880360"/>
            <a:ext cx="13258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Calibri"/>
              </a:defRPr>
            </a:pPr>
            <a:r>
              <a:t>35.453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9112" y="2852928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0">
                <a:solidFill>
                  <a:srgbClr val="000000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" y="3118104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alibri"/>
              </a:defRPr>
            </a:pPr>
            <a:r>
              <a:t>1251.2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118104"/>
            <a:ext cx="7132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000000"/>
                </a:solidFill>
                <a:latin typeface="Calibri"/>
              </a:defRPr>
            </a:pPr>
            <a:r>
              <a:t>3.16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67128" y="3346704"/>
            <a:ext cx="438912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Calibri"/>
              </a:defRPr>
            </a:pPr>
            <a:r>
              <a:t>+7</a:t>
            </a:r>
            <a:br/>
            <a:r>
              <a:t>+5</a:t>
            </a:r>
            <a:br/>
            <a:r>
              <a:t>+3</a:t>
            </a:r>
            <a:br/>
            <a:r>
              <a:t>+1</a:t>
            </a:r>
            <a:br/>
            <a:r>
              <a:t>-1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" y="3328416"/>
            <a:ext cx="1325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600" b="0">
                <a:solidFill>
                  <a:srgbClr val="000000"/>
                </a:solidFill>
                <a:latin typeface="Calibri"/>
              </a:defRPr>
            </a:pPr>
            <a:r>
              <a:t>Cl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" y="4553712"/>
            <a:ext cx="1783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Calibri"/>
              </a:defRPr>
            </a:pPr>
            <a:r>
              <a:t>Chlorine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" y="4809744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000000"/>
                </a:solidFill>
                <a:latin typeface="Calibri"/>
              </a:defRPr>
            </a:pPr>
            <a:r>
              <a:t>[Ne] 3s2 3p5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5669280"/>
            <a:ext cx="2743200" cy="2834640"/>
          </a:xfrm>
          <a:prstGeom prst="rect">
            <a:avLst/>
          </a:prstGeom>
          <a:solidFill>
            <a:srgbClr val="DB82E2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" y="5715000"/>
            <a:ext cx="13258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Calibri"/>
              </a:defRPr>
            </a:pPr>
            <a:r>
              <a:t>79.904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39112" y="5687568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0">
                <a:solidFill>
                  <a:srgbClr val="000000"/>
                </a:solidFill>
                <a:latin typeface="Calibri"/>
              </a:defRPr>
            </a:pPr>
            <a:r>
              <a:t>35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" y="5952744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alibri"/>
              </a:defRPr>
            </a:pPr>
            <a:r>
              <a:t>1139.9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5952744"/>
            <a:ext cx="7132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000000"/>
                </a:solidFill>
                <a:latin typeface="Calibri"/>
              </a:defRPr>
            </a:pPr>
            <a:r>
              <a:t>2.96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67128" y="6181344"/>
            <a:ext cx="438912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Calibri"/>
              </a:defRPr>
            </a:pPr>
            <a:r>
              <a:t>+7</a:t>
            </a:r>
            <a:br/>
            <a:r>
              <a:t>+5</a:t>
            </a:r>
            <a:br/>
            <a:r>
              <a:t>+3</a:t>
            </a:r>
            <a:br/>
            <a:r>
              <a:t>+1</a:t>
            </a:r>
            <a:br/>
            <a:r>
              <a:t>-1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" y="6163056"/>
            <a:ext cx="1325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600" b="0">
                <a:solidFill>
                  <a:srgbClr val="000000"/>
                </a:solidFill>
                <a:latin typeface="Calibri"/>
              </a:defRPr>
            </a:pPr>
            <a:r>
              <a:t>Br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" y="7388352"/>
            <a:ext cx="1783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Calibri"/>
              </a:defRPr>
            </a:pPr>
            <a:r>
              <a:t>Bromine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" y="7644383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000000"/>
                </a:solidFill>
                <a:latin typeface="Calibri"/>
              </a:defRPr>
            </a:pPr>
            <a:r>
              <a:t>[Ar] 3d10 4s2 4p5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8503920"/>
            <a:ext cx="2743200" cy="2834640"/>
          </a:xfrm>
          <a:prstGeom prst="rect">
            <a:avLst/>
          </a:prstGeom>
          <a:solidFill>
            <a:srgbClr val="DB82E2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" y="8549640"/>
            <a:ext cx="13258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Calibri"/>
              </a:defRPr>
            </a:pPr>
            <a:r>
              <a:t>126.9044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39112" y="8522208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0">
                <a:solidFill>
                  <a:srgbClr val="000000"/>
                </a:solidFill>
                <a:latin typeface="Calibri"/>
              </a:defRPr>
            </a:pPr>
            <a:r>
              <a:t>53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" y="8787384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alibri"/>
              </a:defRPr>
            </a:pPr>
            <a:r>
              <a:t>1008.4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53312" y="8787384"/>
            <a:ext cx="7132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000000"/>
                </a:solidFill>
                <a:latin typeface="Calibri"/>
              </a:defRPr>
            </a:pPr>
            <a:r>
              <a:t>2.66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67128" y="9015984"/>
            <a:ext cx="438912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Calibri"/>
              </a:defRPr>
            </a:pPr>
            <a:r>
              <a:t>+7</a:t>
            </a:r>
            <a:br/>
            <a:r>
              <a:t>+5</a:t>
            </a:r>
            <a:br/>
            <a:r>
              <a:t>+1</a:t>
            </a:r>
            <a:br/>
            <a:r>
              <a:t>-1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" y="8997696"/>
            <a:ext cx="1325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600" b="0">
                <a:solidFill>
                  <a:srgbClr val="000000"/>
                </a:solidFill>
                <a:latin typeface="Calibri"/>
              </a:defRPr>
            </a:pPr>
            <a:r>
              <a:t>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" y="10222992"/>
            <a:ext cx="1783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Calibri"/>
              </a:defRPr>
            </a:pPr>
            <a:r>
              <a:t>Iodine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" y="10479024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000000"/>
                </a:solidFill>
                <a:latin typeface="Calibri"/>
              </a:defRPr>
            </a:pPr>
            <a:r>
              <a:t>[Kr] 4d10 5s2 5p5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