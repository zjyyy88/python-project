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F58C8-5DF2-4536-BDAC-89E4C7FF4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C785F8-C8A9-4F37-AD0F-837EB96BA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09CD19-9B27-41A4-8060-8D53B0E62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D83A5-3698-4B55-AAEC-77F39706C6D9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98772A-E60F-486D-B00C-787F75D78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62B394-A42C-46D2-BC85-6B4A7E042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968A-C31A-44D4-97C8-B02B23EF3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55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98D14-4D66-4C49-991D-5D1847D8D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119459-43A7-4FC6-8735-E51AE1B82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F1B008-CB76-40FB-8A0D-17CBE1752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D83A5-3698-4B55-AAEC-77F39706C6D9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AA6F8D-D92E-4093-8F9C-5D5C5B857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8635D0-E575-4E94-A8F5-2814C20F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968A-C31A-44D4-97C8-B02B23EF3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25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4B6E4-A9C2-467E-A524-2C0B6892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9881A1-EAEB-4F9A-A13C-468FBC994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C75762-B47D-4888-B0A9-6CAAE3BD4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D83A5-3698-4B55-AAEC-77F39706C6D9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40E63-226E-45B1-8FDC-6B31C32CE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52FBA-2313-4191-973F-6ED84B743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968A-C31A-44D4-97C8-B02B23EF3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25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D3FBC-0377-48CE-8D28-18CA2B4C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3F28B-2F35-42BF-98DA-EEE2F9BF5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AC3E24-689F-4B12-AA99-B0110F37D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64501-2CBC-4AEE-9AE2-C8B9292B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D83A5-3698-4B55-AAEC-77F39706C6D9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5BCDE0-30A3-4E18-A014-D4BD1861E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51944F-979C-4864-BEB4-6C2380AC6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968A-C31A-44D4-97C8-B02B23EF3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03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F4A3A-EA1B-4E94-BD02-7C5058C54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19A2DB-50A4-4DD1-BF7A-62CAA10E9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FE0C8C-6DC8-4647-8AB0-99A4BE7B1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61AA2E-242D-4F37-9C1F-AD714EAE5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5C9DB7-D1A1-43A0-ACCC-DF3D2B9D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D6B2D7-F36A-40CE-9EB1-07F7BBFE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D83A5-3698-4B55-AAEC-77F39706C6D9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0281E2-56D4-42B6-BEF2-4BEDE11B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575603-9BDB-4A61-8A11-3A35A4504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968A-C31A-44D4-97C8-B02B23EF3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85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84573-416F-43CB-9E8D-9452CFDAE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CFF700-EF1B-44CC-9213-D698EF642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D83A5-3698-4B55-AAEC-77F39706C6D9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D989F2-FC1D-49B1-A3C2-936B82FE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2CD8D8-32EB-4815-BAAB-691C5814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968A-C31A-44D4-97C8-B02B23EF3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526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4774DB-FD5B-4780-B44C-82C538D5E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D83A5-3698-4B55-AAEC-77F39706C6D9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AFC99E-D5D4-4BF5-ACA3-942D683C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010047-59A0-4246-A556-2905C07FA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968A-C31A-44D4-97C8-B02B23EF3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30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A2FD4-B86D-44C2-859C-A0870F29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4211D9-E22A-4CA5-B22F-8C4EBAAC0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E3BBB1-D837-435A-8708-22537DF8D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F54E3D-B2F2-49CE-A391-A6AF96E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D83A5-3698-4B55-AAEC-77F39706C6D9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E23C84-F954-430A-B57C-1726DB23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5BEADC-E30A-4ABE-B3C6-6374913E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968A-C31A-44D4-97C8-B02B23EF3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00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953D4D-5B8C-451B-8D8E-F98797A32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A2EE26-5915-478C-8E46-3CCC0747A9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477A48-CD94-43A6-AA32-5A2CDF86E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C0CE8F-401E-4F1D-A14A-0B168E3D1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D83A5-3698-4B55-AAEC-77F39706C6D9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658FD9-3099-476C-AC29-5A76F520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D5E811-3D78-410E-89C9-2E234DD0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968A-C31A-44D4-97C8-B02B23EF3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18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C8B4D5-6C03-4151-ACD5-5EE27FECC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94A69A-853B-4215-AA24-B36343678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AF26BE-9B55-47DA-9AC0-75BFED02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D83A5-3698-4B55-AAEC-77F39706C6D9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0837DE-4797-4B50-8902-A559CACC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A65884-A2C2-470A-B6E7-0D1688FB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968A-C31A-44D4-97C8-B02B23EF3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084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35D0F-969A-4A92-B546-789BCCE176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19D5F7-D87A-40D5-A5D2-0539293D8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C57C0C-6C6E-44DC-A147-538E946BB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D83A5-3698-4B55-AAEC-77F39706C6D9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9D7FD2-7D17-4C4C-BF31-E74CC0015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96085A-A49D-4757-A0F3-1FEC6BFC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968A-C31A-44D4-97C8-B02B23EF3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980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D80214-3DE0-49A6-8AD2-5E46B1F25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D6062C-06EA-4D2F-82D6-3B6C0EBC4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CBCCD7-8146-47D5-A3E5-5852F0B5F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D83A5-3698-4B55-AAEC-77F39706C6D9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B029F0-4334-4BAD-B71E-625C824A2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CE7F70-55DF-42EE-A0E7-AAFCCC857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A968A-C31A-44D4-97C8-B02B23EF30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154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5866999-1566-4A22-BACB-C94657389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" y="351705"/>
            <a:ext cx="3219419" cy="28371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8D8547D-32D5-42AD-9B41-FE8AB5756297}"/>
              </a:ext>
            </a:extLst>
          </p:cNvPr>
          <p:cNvSpPr txBox="1"/>
          <p:nvPr/>
        </p:nvSpPr>
        <p:spPr>
          <a:xfrm>
            <a:off x="429854" y="343191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(a)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69F94372-F1EE-4229-AE36-B760BAE0D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480609"/>
              </p:ext>
            </p:extLst>
          </p:nvPr>
        </p:nvGraphicFramePr>
        <p:xfrm>
          <a:off x="429854" y="3354387"/>
          <a:ext cx="478636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764">
                  <a:extLst>
                    <a:ext uri="{9D8B030D-6E8A-4147-A177-3AD203B41FA5}">
                      <a16:colId xmlns:a16="http://schemas.microsoft.com/office/drawing/2014/main" val="516325317"/>
                    </a:ext>
                  </a:extLst>
                </a:gridCol>
                <a:gridCol w="1531236">
                  <a:extLst>
                    <a:ext uri="{9D8B030D-6E8A-4147-A177-3AD203B41FA5}">
                      <a16:colId xmlns:a16="http://schemas.microsoft.com/office/drawing/2014/main" val="2106807023"/>
                    </a:ext>
                  </a:extLst>
                </a:gridCol>
                <a:gridCol w="1618364">
                  <a:extLst>
                    <a:ext uri="{9D8B030D-6E8A-4147-A177-3AD203B41FA5}">
                      <a16:colId xmlns:a16="http://schemas.microsoft.com/office/drawing/2014/main" val="263214626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379245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</a:t>
                      </a:r>
                      <a:r>
                        <a:rPr lang="en-US" altLang="zh-CN" sz="1800" baseline="-25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</a:t>
                      </a:r>
                      <a:r>
                        <a:rPr lang="en-US" altLang="zh-CN" sz="1800" baseline="-25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Cl-calc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</a:t>
                      </a:r>
                      <a:r>
                        <a:rPr lang="en-US" altLang="zh-CN" sz="1800" baseline="-25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</a:t>
                      </a:r>
                      <a:r>
                        <a:rPr lang="en-US" altLang="zh-CN" sz="1800" baseline="-25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Cl-exp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15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(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Å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10.01233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9.857815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1.57%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808133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06819C28-2E93-4DEB-BF73-044CD256D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039" y="221095"/>
            <a:ext cx="2227349" cy="313329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88363C3-92E5-433D-93C9-6DFCD778F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924" y="2593406"/>
            <a:ext cx="629130" cy="59112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BF622A5-9290-4365-A229-70256DECA408}"/>
              </a:ext>
            </a:extLst>
          </p:cNvPr>
          <p:cNvSpPr txBox="1"/>
          <p:nvPr/>
        </p:nvSpPr>
        <p:spPr>
          <a:xfrm>
            <a:off x="5495531" y="351705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(b)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D72A117-0F9E-4DBF-86A3-6B275F83B372}"/>
              </a:ext>
            </a:extLst>
          </p:cNvPr>
          <p:cNvSpPr txBox="1"/>
          <p:nvPr/>
        </p:nvSpPr>
        <p:spPr>
          <a:xfrm>
            <a:off x="9146417" y="3318948"/>
            <a:ext cx="188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Li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PS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Cl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0.875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0.125</a:t>
            </a:r>
            <a:endParaRPr lang="zh-CN" altLang="en-US" baseline="-25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A6BF6E-9544-4924-B2C3-C325F95B44BB}"/>
              </a:ext>
            </a:extLst>
          </p:cNvPr>
          <p:cNvSpPr txBox="1"/>
          <p:nvPr/>
        </p:nvSpPr>
        <p:spPr>
          <a:xfrm>
            <a:off x="8797537" y="389014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altLang="zh-CN" dirty="0"/>
              <a:t>a =  9.81861 Å      α = 90.0000°</a:t>
            </a:r>
          </a:p>
          <a:p>
            <a:r>
              <a:rPr lang="nn-NO" altLang="zh-CN" dirty="0"/>
              <a:t>b =  9.81861 Å      β = 90.0000°</a:t>
            </a:r>
          </a:p>
          <a:p>
            <a:r>
              <a:rPr lang="nn-NO" altLang="zh-CN" dirty="0"/>
              <a:t>c = 19.04939 Å      γ = 90.0000°</a:t>
            </a:r>
          </a:p>
          <a:p>
            <a:r>
              <a:rPr lang="nn-NO" altLang="zh-CN" dirty="0"/>
              <a:t>V = 1836.4603 Å^3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A91B9F-1CF0-4422-81EE-2E3BDF4AC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004" y="309099"/>
            <a:ext cx="2291861" cy="304528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9DE4495-9693-47FD-89DC-BF9113C8F4AE}"/>
              </a:ext>
            </a:extLst>
          </p:cNvPr>
          <p:cNvSpPr txBox="1"/>
          <p:nvPr/>
        </p:nvSpPr>
        <p:spPr>
          <a:xfrm>
            <a:off x="7230846" y="3318948"/>
            <a:ext cx="1140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altLang="zh-CN" sz="1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altLang="zh-CN" sz="1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452370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EA7E559-6519-4DC4-A9A4-9E2D6710862F}"/>
              </a:ext>
            </a:extLst>
          </p:cNvPr>
          <p:cNvSpPr txBox="1"/>
          <p:nvPr/>
        </p:nvSpPr>
        <p:spPr>
          <a:xfrm>
            <a:off x="5624946" y="48354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Percolation barriers:</a:t>
            </a:r>
          </a:p>
          <a:p>
            <a:r>
              <a:rPr lang="en-US" altLang="zh-CN" dirty="0"/>
              <a:t>1D percolation barrier is 0.3516 eV</a:t>
            </a:r>
          </a:p>
          <a:p>
            <a:r>
              <a:rPr lang="en-US" altLang="zh-CN" dirty="0"/>
              <a:t>2D percolation barrier is 0.3516 eV</a:t>
            </a:r>
          </a:p>
          <a:p>
            <a:r>
              <a:rPr lang="en-US" altLang="zh-CN" dirty="0"/>
              <a:t>3D percolation barrier is 0.4102 eV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5D624AA-8F62-497D-AE30-ECC3FA655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606" y="1261951"/>
            <a:ext cx="2227349" cy="313329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146EFB5-CEA2-47DD-A818-53FB9E6254E9}"/>
              </a:ext>
            </a:extLst>
          </p:cNvPr>
          <p:cNvSpPr txBox="1"/>
          <p:nvPr/>
        </p:nvSpPr>
        <p:spPr>
          <a:xfrm>
            <a:off x="6365984" y="4359804"/>
            <a:ext cx="188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Li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PS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Cl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0.875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0.125</a:t>
            </a:r>
            <a:endParaRPr lang="zh-CN" altLang="en-US" baseline="-25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39FF8E-3260-4648-BB14-DBD2CEDEF0B7}"/>
              </a:ext>
            </a:extLst>
          </p:cNvPr>
          <p:cNvSpPr txBox="1"/>
          <p:nvPr/>
        </p:nvSpPr>
        <p:spPr>
          <a:xfrm>
            <a:off x="2197028" y="4359804"/>
            <a:ext cx="1140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altLang="zh-CN" sz="1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altLang="zh-CN" sz="18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endParaRPr lang="zh-CN" altLang="en-US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E26762-344F-4551-85DF-EA9EBB152E6B}"/>
              </a:ext>
            </a:extLst>
          </p:cNvPr>
          <p:cNvSpPr txBox="1"/>
          <p:nvPr/>
        </p:nvSpPr>
        <p:spPr>
          <a:xfrm>
            <a:off x="1347235" y="4812544"/>
            <a:ext cx="39808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Percolation barriers:</a:t>
            </a:r>
          </a:p>
          <a:p>
            <a:r>
              <a:rPr lang="en-US" altLang="zh-CN" dirty="0"/>
              <a:t>1D percolation barrier is 0.3711 eV</a:t>
            </a:r>
          </a:p>
          <a:p>
            <a:r>
              <a:rPr lang="en-US" altLang="zh-CN" dirty="0"/>
              <a:t>2D percolation barrier is 0.3711 eV</a:t>
            </a:r>
          </a:p>
          <a:p>
            <a:r>
              <a:rPr lang="en-US" altLang="zh-CN" dirty="0"/>
              <a:t>3D percolation barrier is 0.4004 eV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848A179-DD5C-4462-8BCB-A14547A3D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014" y="1261950"/>
            <a:ext cx="2035496" cy="313329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4627152-BC7E-4C76-96A7-690D151C1BCA}"/>
              </a:ext>
            </a:extLst>
          </p:cNvPr>
          <p:cNvSpPr txBox="1"/>
          <p:nvPr/>
        </p:nvSpPr>
        <p:spPr>
          <a:xfrm>
            <a:off x="0" y="0"/>
            <a:ext cx="894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BVSE</a:t>
            </a:r>
            <a:endParaRPr lang="zh-CN" altLang="en-US" sz="2400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BB51050-5F4B-4FB0-B6FD-9CA90A7D12B0}"/>
              </a:ext>
            </a:extLst>
          </p:cNvPr>
          <p:cNvSpPr txBox="1"/>
          <p:nvPr/>
        </p:nvSpPr>
        <p:spPr>
          <a:xfrm>
            <a:off x="816402" y="5953121"/>
            <a:ext cx="75287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	</a:t>
            </a:r>
            <a:r>
              <a:rPr lang="en-US" altLang="zh-CN" sz="1400" dirty="0" err="1"/>
              <a:t>parser.add_argument</a:t>
            </a:r>
            <a:r>
              <a:rPr lang="en-US" altLang="zh-CN" sz="1400" dirty="0"/>
              <a:t>("--r-cut", type=float, default=8.0, help="</a:t>
            </a:r>
            <a:r>
              <a:rPr lang="zh-CN" altLang="en-US" sz="1400" dirty="0"/>
              <a:t>截断半径，</a:t>
            </a:r>
            <a:r>
              <a:rPr lang="en-US" altLang="zh-CN" sz="1400" dirty="0"/>
              <a:t>")</a:t>
            </a:r>
          </a:p>
          <a:p>
            <a:r>
              <a:rPr lang="en-US" altLang="zh-CN" sz="1400" dirty="0"/>
              <a:t>	</a:t>
            </a:r>
            <a:r>
              <a:rPr lang="en-US" altLang="zh-CN" sz="1400" dirty="0" err="1"/>
              <a:t>parser.add_argument</a:t>
            </a:r>
            <a:r>
              <a:rPr lang="en-US" altLang="zh-CN" sz="1400" dirty="0"/>
              <a:t>("--resolution", type=float, default=0.3, help="</a:t>
            </a:r>
            <a:r>
              <a:rPr lang="zh-CN" altLang="en-US" sz="1400" dirty="0"/>
              <a:t>网格分辨率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/>
              <a:t>	</a:t>
            </a:r>
            <a:r>
              <a:rPr lang="en-US" altLang="zh-CN" sz="1400" dirty="0" err="1"/>
              <a:t>parser.add_argument</a:t>
            </a:r>
            <a:r>
              <a:rPr lang="en-US" altLang="zh-CN" sz="1400" dirty="0"/>
              <a:t>("--k", type=int, default=100, help="</a:t>
            </a:r>
            <a:r>
              <a:rPr lang="zh-CN" altLang="en-US" sz="1400" dirty="0"/>
              <a:t>近邻搜索个数上限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/>
              <a:t>	</a:t>
            </a:r>
            <a:r>
              <a:rPr lang="en-US" altLang="zh-CN" sz="1400" dirty="0" err="1"/>
              <a:t>parser.add_argument</a:t>
            </a:r>
            <a:r>
              <a:rPr lang="en-US" altLang="zh-CN" sz="1400" dirty="0"/>
              <a:t>("--</a:t>
            </a:r>
            <a:r>
              <a:rPr lang="en-US" altLang="zh-CN" sz="1400" dirty="0" err="1"/>
              <a:t>encut</a:t>
            </a:r>
            <a:r>
              <a:rPr lang="en-US" altLang="zh-CN" sz="1400" dirty="0"/>
              <a:t>", type=float, default=5.0, help="</a:t>
            </a:r>
            <a:r>
              <a:rPr lang="zh-CN" altLang="en-US" sz="1400" dirty="0"/>
              <a:t>渗流势垒能量截断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43185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187</Words>
  <Application>Microsoft Office PowerPoint</Application>
  <PresentationFormat>宽屏</PresentationFormat>
  <Paragraphs>30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 Jiaying(21C LAB)</dc:creator>
  <cp:lastModifiedBy>Zhang Jiaying(21C LAB)</cp:lastModifiedBy>
  <cp:revision>6</cp:revision>
  <dcterms:created xsi:type="dcterms:W3CDTF">2026-04-28T07:58:21Z</dcterms:created>
  <dcterms:modified xsi:type="dcterms:W3CDTF">2026-04-29T07:22:52Z</dcterms:modified>
</cp:coreProperties>
</file>